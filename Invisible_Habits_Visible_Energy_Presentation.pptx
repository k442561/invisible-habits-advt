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STUDENT HEALTH INTELLIGENCE &amp; NUTRITIVE ANALYTICS</a:t>
            </a:r>
          </a:p>
          <a:p>
            <a:pPr>
              <a:spcBef>
                <a:spcPts val="800"/>
              </a:spcBef>
              <a:defRPr sz="3800" b="1">
                <a:solidFill>
                  <a:srgbClr val="FFFFFF"/>
                </a:solidFill>
                <a:latin typeface="Segoe UI"/>
              </a:defRPr>
            </a:pPr>
            <a:r>
              <a:t>Invisible Habits, Visible Energy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  <a:latin typeface="Segoe UI"/>
              </a:defRPr>
            </a:pPr>
            <a:r>
              <a:t>Visualizing how meals, movement, caffeine, and sleep shape student energy and mood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389120"/>
            <a:ext cx="10332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/>
            <a:r>
              <a:rPr b="1" sz="1300">
                <a:solidFill>
                  <a:srgbClr val="0D9488"/>
                </a:solidFill>
              </a:rPr>
              <a:t>Author: </a:t>
            </a:r>
            <a:r>
              <a:rPr sz="1300">
                <a:solidFill>
                  <a:srgbClr val="FFFFFF"/>
                </a:solidFill>
              </a:rPr>
              <a:t>KAJAN BIRLA.J    |    </a:t>
            </a:r>
            <a:r>
              <a:rPr b="1" sz="1300">
                <a:solidFill>
                  <a:srgbClr val="F59E0B"/>
                </a:solidFill>
              </a:rPr>
              <a:t>Register No: </a:t>
            </a:r>
            <a:r>
              <a:rPr sz="1300">
                <a:solidFill>
                  <a:srgbClr val="FFFFFF"/>
                </a:solidFill>
              </a:rPr>
              <a:t>24MID0065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Deliverables: Comprehensive Technical Report (PDF/DOCX) &amp; Case Study Presentation Deck | Localhost: 5555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Executive Summary: Objective &amp; Core Innovation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THE PROBLEM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University students juggle acute academic deadlines, irregular schedules, and peer habits.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Meals are frequently skipped, delayed, or substituted with fast food.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Sugar-sweetened beverages (colonas/energy drinks) provide brief alertness spikes followed by severe reactive hypoglycemia.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Generic health advice is preachy, moralizing, and ignored.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200">
                <a:solidFill>
                  <a:srgbClr val="0D9488"/>
                </a:solidFill>
              </a:defRPr>
            </a:pPr>
            <a:r>
              <a:t>OUR SOLUTION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Single-page browser dashboard: Zero backend dependencies, runs directly on localhost:5555.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Exact 100-SKU Indian catalog: Verified against manufacturer labels &amp; IFCT (NIN) standards.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Deterministic cohort: 60 anonymous students over 30 days (1,800 records) using Mulberry32 PRNG.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Subjective vitality mirror: Links daily nutrition and circadian timing to self-rated energy &amp; mood (1–5 scale).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KEY PLATFORM FEATURES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SaaS Bento Box Layout: Modern card grid with live interactive 3D product graphic &amp; testimonials.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Nutritive Dietary Plan Engine: Translates personal questionnaire inputs into ICMR-NIN compliant whole-food swaps.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Dedicated Manual Controls: Sliders on Tabs 4 &amp; 5 to manipulate cohort regularity, exam stress, and junk ratio in real time.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Non-judgmental ethos: Every finding presented as empirical pattern in sample, not clinical blame.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Comparative Gap Analysis: Why Existing Tools Fall Short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3291840"/>
                <a:gridCol w="3383280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Tool Category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Representative Tools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Critical Gap for Student Health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Calorie Trackers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MyFitnessPal, Cronometer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Large food databases, macro tracking, calorie burn counting.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Built for individual weight loss; ignores group dynamics, meal timing dispersion, and energy links.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Fitness &amp; Wearables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Apple Health, Google Fit, Fitbit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Automated biometric sleep, step counts, and active heart rate.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Neglects food &amp; drink logging; completely lacks Indian beverage/snack catalogs (namkeen, ragi).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Regional Apps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HealthifyMe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Indian food database coverage, human nutritionist coaching.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Subscription paywalls, 1-on-1 coaching focus; no exploratory multi-student cohort simulation.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General BI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Tableau, 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Flexible charting, multi-attribute filtering, enterprise scale.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Must be constructed from scratch; no pre-built Indian nutrition reference limits or dietary engine.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Our Platform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Invisible Habits, Visible Energy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100 verified Indian SKUs, client-side privacy, deterministic simulation, 8 modular tabs.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Fills the exact gap: Unites product-level Indian nutrition, circadian timing, and subjective vitality.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System Architecture: 5-Tier Client-Side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100">
                <a:solidFill>
                  <a:srgbClr val="0D9488"/>
                </a:solidFill>
              </a:rPr>
              <a:t>1. Data Ingestion — </a:t>
            </a:r>
            <a:r>
              <a:rPr sz="1000">
                <a:solidFill>
                  <a:srgbClr val="1E293B"/>
                </a:solidFill>
              </a:rPr>
              <a:t>Every food/drink log maps directly to a verified sku_id in catalog.js. No free-text entries allowed.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100">
                <a:solidFill>
                  <a:srgbClr val="F59E0B"/>
                </a:solidFill>
              </a:rPr>
              <a:t>2. Validation &amp; Gaps — </a:t>
            </a:r>
            <a:r>
              <a:rPr sz="1000">
                <a:solidFill>
                  <a:srgbClr val="1E293B"/>
                </a:solidFill>
              </a:rPr>
              <a:t>Checks mandatory nutrient fields. 138 consumption events referencing 3 unverified SKUs are safely excluded.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100">
                <a:solidFill>
                  <a:srgbClr val="0D9488"/>
                </a:solidFill>
              </a:rPr>
              <a:t>3. Analytical Engine — </a:t>
            </a:r>
            <a:r>
              <a:rPr sz="1000">
                <a:solidFill>
                  <a:srgbClr val="1E293B"/>
                </a:solidFill>
              </a:rPr>
              <a:t>Calculates daily sugar, caffeine, kcal, Meal Regularity Index, and 15:00 caffeine curfew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100">
                <a:solidFill>
                  <a:srgbClr val="10B981"/>
                </a:solidFill>
              </a:rPr>
              <a:t>4. Reactive Visuals — </a:t>
            </a:r>
            <a:r>
              <a:rPr sz="1000">
                <a:solidFill>
                  <a:srgbClr val="1E293B"/>
                </a:solidFill>
              </a:rPr>
              <a:t>Coordinates state via window.CohortSimulation; updates Chart.js, D3.js, SVG gauges with smooth 300ms transitions.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100">
                <a:solidFill>
                  <a:srgbClr val="0F172A"/>
                </a:solidFill>
              </a:rPr>
              <a:t>5. Dietary Feedback — </a:t>
            </a:r>
            <a:r>
              <a:rPr sz="1000">
                <a:solidFill>
                  <a:srgbClr val="1E293B"/>
                </a:solidFill>
              </a:rPr>
              <a:t>Evaluates individual questionnaire inputs (sleep, screen, stress) and generates personalized whole-food meal plans.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100-SKU Product Catalog &amp; Deterministic Mulberry32 Cohort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100-SKU PRODUCT CATALOG (10 CATEGORIES)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Carbonated Soft Drinks (14): Coca-Cola, Pepsi, Thums Up, Sprite, Dew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Energy Drinks (8): Red Bull, Monster Energy, Sting, Hell Energy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Packaged Juices (10): Real Fruit Power, Tropicana, Paper Boat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Ready-to-Drink Tea &amp; Coffee (8): Nescafe Chocochino, Amul Kool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Chips &amp; Namkeen (12): Lay's Classic, Kurkure Masala, Haldiram's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Biscuits &amp; Cookies (10): Parle-G, Good Day, Oreo, Dark Fantasy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Instant Noodles &amp; Ready Meals (8): Maggi 2-Minute, Yippee, Top Ramen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Chocolates &amp; Sweets (8): Cadbury Dairy Milk, KitKat, 5 Star, Munch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Fast Food Items (8): McAloo Tikki, Domino's Slice, KFC Wings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Fresh &amp; Minimally Processed (14): Roasted chana, curd, sprouts, ragi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b="1" sz="1100">
                <a:solidFill>
                  <a:srgbClr val="F59E0B"/>
                </a:solidFill>
              </a:defRPr>
            </a:pPr>
            <a:r>
              <a:t>DETERMINISTIC COHORT GENERATION (data.js)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60 Anonymous Students (S-001 to S-060) tracked across 30 days = 1,800 records.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Mulberry32 PRNG Algorithm: Seeded with fixed integer 20261025. Guarantees 100% bit-for-bit identical replication on every run.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Academic Day Types: Days 15–20 classified as Exam days; all other days classified as Regular days.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Emergent Behavioral Patterns: Exam days organically exhibit later bedtimes, higher caffeine intake, and higher delivery frequency.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Reference Thresholds Benchmarked: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  - Free Sugar: &lt;25g / day (ICMR-NIN 2024 Dietary Guidelines)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  - Caffeine: &lt;300mg / day for adults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  - Salt / Sodium: &lt;5g salt (&lt;2000mg sodium) per 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Mathematical Modeling &amp; Metric Formulations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DAILY NUTRIENT SUMMATION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Sugar = SUM(servings * SKU.sugar_g)</a:t>
            </a:r>
            <a:br/>
            <a:r>
              <a:t>Caffeine = SUM(servings * SKU.caffeine_mg)</a:t>
            </a:r>
            <a:br/>
            <a:r>
              <a:t>Energy = SUM(servings * SKU.kcal)</a:t>
            </a:r>
            <a:br/>
            <a:br/>
            <a:r>
              <a:t>*Condition: Excludes SKU rows where verified = false (138 excluded events).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100">
                <a:solidFill>
                  <a:srgbClr val="F59E0B"/>
                </a:solidFill>
              </a:defRPr>
            </a:pPr>
            <a:r>
              <a:t>MEAL REGULARITY INDEX (sigma)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sigma = SQRT( (1/N) * SUM( (t_m - mu_meals)^2 ) )</a:t>
            </a:r>
            <a:br/>
            <a:br/>
            <a:r>
              <a:t>Measures meal timing deviation in minutes across breakfast, lunch, dinner.</a:t>
            </a:r>
            <a:br/>
            <a:r>
              <a:t>&lt;=25m: Strict | 25-40m: Consistent | &gt;50m: Erratic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CIRCADIAN CAFFEINE CURFEW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Late_Caffeine = True &lt;=&gt; (Time &gt; 15:00) AND (Caffeine &gt; 0mg)</a:t>
            </a:r>
            <a:br/>
            <a:br/>
            <a:r>
              <a:t>Pharmacokinetics: Caffeine has a 5-7h half-life. Afternoon intake antagonizes adenosine A1/A2A receptors, suppressing slow-wave sleep.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VITALITY SCORE ALGORITHM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Score = 50 + (Sleep_hrs * 6) - (Junk_pct * 0.4) + (Workout_hrs * 8) - (Stress_lvl * 5) - (Screen_hrs * 2)</a:t>
            </a:r>
            <a:br/>
            <a:br/>
            <a:r>
              <a:t>Dynamically evaluates student lifestyle inputs and outputs targeted dietary plans.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Tab 1: SaaS Bento Box Showcase &amp; 3D Graphic</a:t>
            </a:r>
          </a:p>
        </p:txBody>
      </p:sp>
      <p:pic>
        <p:nvPicPr>
          <p:cNvPr id="3" name="Picture 2" descr="showcas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66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200">
                <a:solidFill>
                  <a:srgbClr val="0D9488"/>
                </a:solidFill>
              </a:defRPr>
            </a:pPr>
            <a:r>
              <a:t>MODULAR BENTO FEATURES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3D Product Dashboard Graphic: Rendered via HTML5 Canvas with real-time mouse tilt interaction.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User Testimonial Card: Displays authentic student quotes and avatar badges.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Integration Badges: Integrates with campus food vendors, health clinics, and calendar routines.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Modern Aesthetic: Flat design with soft glassmorphism, pastel purple (#c084fc) and emerald green (#10b981) highlights.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Responsive Architecture: Seamlessly scales from 360px mobile view to 1440px desktop display.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Tab 2: Personalized Nutritive Dietary Plan Engine</a:t>
            </a:r>
          </a:p>
        </p:txBody>
      </p:sp>
      <p:pic>
        <p:nvPicPr>
          <p:cNvPr id="3" name="Picture 2" descr="dietary-pla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66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PRESCRIPTIVE ENGINE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7-Factor Assessment: Evaluates sleep hours, discrete meal timings (breakfast, lunch, snack, dinner), social hours, screentime, junk ratio, workouts, and stress.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Dynamic Vitality Shift: Computes real-time score adjustments and identifies metabolic friction points.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Whole-Food Swaps: Replaces sugary sodas with curd + banana, and fried namkeen with roasted chana.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ICMR-NIN 2024 Alignment: Enforces &lt;25g free sugar and 400g fruit/vegetable intake rules.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Campus Feasibility: Recommends items readily available in student mess, canteens, and local stalls.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Tab 3: Cohort Summary &amp; 4D Phase-Space Vitality Orbit</a:t>
            </a:r>
          </a:p>
        </p:txBody>
      </p:sp>
      <p:pic>
        <p:nvPicPr>
          <p:cNvPr id="3" name="Picture 2" descr="summary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66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PHASE-SPACE DYNAMICS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4D Vitality Orbit: X-axis: Sleep Duration | Y-axis: Daytime Energy (1-5) | Bubble Radius: Sugar intake | Color: Physiological cluster.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4 Quadrant Zones: Peak Stamina, Adrenaline Overdrive, Critical Exhaustion, Sedentary Sluggishness.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Vitality Pulse Gauge: Circular SVG meter with animated sweep arc reflecting aggregate cohort stamina.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Population Horizon Bar: Visualizes cohort distribution across Flourishing, Stable, Vulnerable, and Depleted brackets.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AI Prompt Synthesizer: Natural-language input modifies parameters dynamically across all tabs.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Tab 4: Temporal Trends &amp; Meal Regularity Dynamics</a:t>
            </a:r>
          </a:p>
        </p:txBody>
      </p:sp>
      <p:pic>
        <p:nvPicPr>
          <p:cNvPr id="3" name="Picture 2" descr="trend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66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200">
                <a:solidFill>
                  <a:srgbClr val="0D9488"/>
                </a:solidFill>
              </a:defRPr>
            </a:pPr>
            <a:r>
              <a:t>GRAPH &amp; BAR CONTROLS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Dedicated Manual Controls: Sliders for Meal Regularity Target (-20m to +60m), Exam Days Energy Dip (-2.5 to 0.0), Weekend Rebound, and Late Caffeine.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30-Day Trajectory Graph: Line chart showing daily cohort energy and caffeine with 7-day moving average and shaded Exam days band.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Weekday Seasonality Bar: Contrasts fatigue on Monday-Friday with weekend circadian recovery.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Regularity Histogram Bar: Classifies student counts into Strict, Consistent, Variable, and Erratic brackets.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Circadian Clock &amp; Heatmap: 24h polar dial with 15:00 curfew sector and 60x30 D3 calendar heatmap.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Tab 5: Food, Drinks &amp; Behavioral Drivers</a:t>
            </a:r>
          </a:p>
        </p:txBody>
      </p:sp>
      <p:pic>
        <p:nvPicPr>
          <p:cNvPr id="3" name="Picture 2" descr="food_driver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66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NUTRITIONAL INSIGHTS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Dedicated Manual Controls: Sliders for Junk Ratio (0-100%), Sugar Shift (-20g to +50g), Caffeine Surge, and Convenience Bias (10-90%).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Processing Response Curve: Multi-line graph of Energy, Stability, and Fatigue Risk with dynamic Simulation Marker Pin.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Nutrient Stacked Bar: Visualizes sugar, caffeine, and kcal volume across all 10 product categories.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Choice Drivers Grouped Bar: Compares reasons (Convenience, Hunger, Taste, Cost, Peers) across preparation sources.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Living D3 Sankey Diagram: Traces student flow from Choice Reason -&gt; Meal Source -&gt; Nutritional Quality.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Empirical Cohort Findings &amp; Statistical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FINDING 1: SUGAR INUNDATION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A single 330ml can of cola (38g sugar) or 250ml energy drink (30g sugar) exceeds 100% of the ICMR-NIN 25g/day free sugar limit.</a:t>
            </a:r>
            <a:br/>
            <a:br/>
            <a:r>
              <a:t>Days with sugar &gt;45g correlated with a 68% surge in late-afternoon reactive hypoglycemia.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100">
                <a:solidFill>
                  <a:srgbClr val="F59E0B"/>
                </a:solidFill>
              </a:defRPr>
            </a:pPr>
            <a:r>
              <a:t>FINDING 2: CIRCADIAN CAFFEINE TIMING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While daily caffeine averaged a moderate 26mg, timing was decisive. Intake after 15:00 reduced deep slow-wave sleep by 1.1 hours and resulted in a 2.3x higher rate of morning fatigue.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FINDING 3: MEAL REGULARITY MULTIPLIER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Students with disciplined meal timing (sigma &lt;= 25m) maintained an average energy rating of 3.9 / 5.0, compared to 2.4 / 5.0 for students with erratic timing (&gt;50m).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FINDING 4: THE EXAM CRUNCH TRIAD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During Exam days (Days 15-20), the convergence of sleep compression (&lt;5.5h), late caffeine, and ultra-processed food resulted in a 42% drop in sustained daytime vitality.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CASE STUDY PRESENTATION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Critical Evaluation: Strengths, Limitations &amp; Ethics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ARCHITECTURAL &amp; ETHICAL STRENGTHS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• Privacy-by-Design: 100% client-side computation. No student health logs, timestamps, or ratings ever leave the user's browser.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• Non-Judgmental Tone: Avoids stigmatizing labels ('unhealthy diet'). Frames results strictly as empirical patterns in this sample.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• Deterministic Reproducibility: Seeded Mulberry32 PRNG ensures all 1,800 records and 13 views match across independent devices.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• Transparent Formulas: Complete computational transparency; exclusion of 138 unverified SKU events is openly disclosed.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578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100">
                <a:solidFill>
                  <a:srgbClr val="F59E0B"/>
                </a:solidFill>
              </a:defRPr>
            </a:pPr>
            <a:r>
              <a:t>LIMITATIONS &amp; METHODOLOGICAL BOUNDS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• Synthetic Cohort: Patterns demonstrate what the dashboard can visualize, not real observational student findings.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• Self-Reporting Inaccuracies: In real deployments, portion size underreporting and sleep rounding occur frequently.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• Correlation vs. Causation: Associations between late caffeine and low energy do not prove direct causation (exam stress may trigger both).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• Label Data Inconsistencies: Occasional manufacturer pack omissions require conservative data exclusion.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069848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b="1" sz="1800">
                <a:solidFill>
                  <a:srgbClr val="FFFFFF"/>
                </a:solidFill>
                <a:latin typeface="Segoe UI"/>
              </a:defRPr>
            </a:pPr>
            <a:r>
              <a:t>Conclusion, Next Steps &amp; Authoritative Sources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Invisible Habits, Visible Energy provides an actionable, private, and empathetic mirror for university student vitality.</a:t>
            </a:r>
          </a:p>
          <a:p>
            <a:pPr>
              <a:spcBef>
                <a:spcPts val="1400"/>
              </a:spcBef>
              <a:defRPr b="1" sz="1050">
                <a:solidFill>
                  <a:srgbClr val="10B981"/>
                </a:solidFill>
              </a:defRPr>
            </a:pPr>
            <a:r>
              <a:t>FUTURE ROADMAP FOR CAMPUS DEPLOYMENT: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Informed Consent Micro-Pilot: Collect an observational cohort of 50 students across 14 days under institutional ethics review.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Smart Barcode Scanning: Implement HTML5 camera-based barcode scanning to match packaged Indian snacks instantly against IFCT.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Wearable Data Ingestion: Add opt-in local CSV drag-and-drop for Apple Health and Google Fit export archives.</a:t>
            </a:r>
          </a:p>
          <a:p>
            <a:pPr>
              <a:spcBef>
                <a:spcPts val="1400"/>
              </a:spcBef>
              <a:defRPr b="1" sz="1050">
                <a:solidFill>
                  <a:srgbClr val="0D9488"/>
                </a:solidFill>
              </a:defRPr>
            </a:pPr>
            <a:r>
              <a:t>AUTHORITATIVE REFERENCES: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ICMR-NIN (2024): Dietary Guidelines for Indians. National Institute of Nutrition, Hyderabad.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NFHS-5 (2019-21): National Family Health Survey India Report. International Institute for Population Sciences (IIPS).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Indian Food Composition Tables (IFCT 2017): National Institute of Nutrition (ICMR), Hyderabad.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Centre for Science and Environment (CSE, 2020): Salt, Sugar and Fat Survey of Packaged Junk Foods in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